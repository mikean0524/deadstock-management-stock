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2245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 Introduction (~75 seconds)
Good [morning/afternoon] everyone. We're presenting the Deadstock Management System — a platform built to help vendors manage, verify, and resell their unsold inventory, known as deadstock.
In simple terms: deadstock is stock that a vendor bought but couldn't sell in time — old fashion inventory, excess electronics, discontinued packaging, expired-soon FMCG goods, and so on. Right now, this stock mostly sits in warehouses doing nothing, or gets dumped at huge losses.
Our system does three things. First, it helps a vendor manage their own stock digitally — track what's moving, what's stuck, and for how long. Second, it verifies that stock which is genuinely deadstock — condition, quantity, and authenticity — so buyers can trust what they're purchasing. Third, it lists that verified deadstock on a seller-side marketplace, where other buyers — retailers, wholesalers, or resellers — can discover and purchase it directly.
So think of it as: inventory management, plus a trust layer, plus a resale marketplace — all in one system.
Over the next few minutes we'll walk you through why this problem matters, what specifically goes wrong today, and how our solution addresses it end to end.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2: Motivation (~75 seconds)
So why does this matter? Three reasons drive our motivation.
One — capital. Every unit sitting on a shelf is money the vendor already spent and can't reuse. For small and mid-sized vendors especially, that trapped capital directly limits how much new, sellable stock they can buy.
Two — waste. Today, deadstock usually ends one of two ways: it gets discounted so heavily the vendor barely breaks even, or it's simply written off and disposed of. Industry estimates suggest that roughly 20 to 30 percent of retail inventory value can sit idle as slow-moving or dead stock in a given year — and in categories like licensed liquor retail, where regulation limits how and where stock can move, this problem is even sharper.
Three — and this is the gap we're targeting — there's no structured, trustworthy resale channel. If Vendor A has healthy, verified surplus stock, and Vendor B could actually use it, there's currently no efficient, verified way for that transaction to happen. It's word-of-mouth, informal, and slow, if it happens at all.
That's our motivation: unlock trapped capital, reduce waste, and create a real market for deadstock that doesn't exist today.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3: Problem Statement (~90 seconds)
Let's get specific about what's broken.
First — no real-time visibility. Most vendors are still tracking inventory in spreadsheets or paper registers. There's no live signal that tells them "this batch has been sitting for 60 days and is turning into deadstock" until it's already a sunk loss.
Second — no way to verify deadstock. Even if a vendor wanted to sell their surplus to another buyer, how would that buyer trust the listing? Is the quantity accurate? Is the stock actually in sellable condition? Without independent verification, no serious buyer will commit money.
Third — no resale marketplace. There's simply no dedicated platform where this kind of vendor-to-vendor, or vendor-to-buyer, deadstock trade can happen in an organized way. It's fragmented, informal, and inefficient.
And fourth — compliance risk, which matters a lot for regulated categories. Take licensed liquor retail, which several of us have direct exposure to — you can't just resell alcohol inventory freely between parties. Any resale channel has to respect state excise licensing rules, or it creates legal risk instead of solving a business problem.
So the core problem is: vendors can't see their deadstock forming, can't prove it's legitimate when they want to sell it, and have nowhere compliant to sell it even if they could.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4: Proposed Solution (~90 seconds, then close)
Here's how the Deadstock Management System solves this, in four connected steps.
Step one — Manage. Vendors get a digital dashboard to log inventory and track it over time. The system automatically flags stock that's aging toward deadstock status, so vendors catch it early instead of discovering it months later.
Step two — Verify. This is the trust layer. Before anything can be listed for resale, it goes through a verification step — proof of condition, batch and quantity checks, and authenticity confirmation. This is what makes a listing credible to a buyer who's never dealt with this vendor before.
Step three — List. Once verified, that stock gets published on our seller-side marketplace — categorized, priced, and made discoverable to other buyers actively looking for exactly this kind of inventory.
Step four — Resell. Buyers — other retailers, wholesalers, or resellers — browse and purchase directly through the platform. The original vendor recovers capital they'd otherwise have written off, and the stock stays useful instead of becoming waste.
Importantly, this flow also respects compliance — for regulated categories, verification includes checking that the transaction is licensing-appropriate before a listing can even go live.
To summarize: we turn a vendor's dead capital into a buyer's opportunity — safely, verifiably, and in one connected system. Thank you —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B2E"/>
        </a:solidFill>
        <a:effectLst/>
      </p:bgPr>
    </p:bg>
    <p:spTree>
      <p:nvGrpSpPr>
        <p:cNvPr id="1" name=""/>
        <p:cNvGrpSpPr/>
        <p:nvPr/>
      </p:nvGrpSpPr>
      <p:grpSpPr>
        <a:xfrm>
          <a:off x="0" y="0"/>
          <a:ext cx="0" cy="0"/>
          <a:chOff x="0" y="0"/>
          <a:chExt cx="0" cy="0"/>
        </a:xfrm>
      </p:grpSpPr>
      <p:sp>
        <p:nvSpPr>
          <p:cNvPr id="2" name="Shape 0"/>
          <p:cNvSpPr/>
          <p:nvPr/>
        </p:nvSpPr>
        <p:spPr>
          <a:xfrm>
            <a:off x="9692640" y="1005840"/>
            <a:ext cx="640080" cy="640080"/>
          </a:xfrm>
          <a:prstGeom prst="roundRect">
            <a:avLst>
              <a:gd name="adj" fmla="val 11429"/>
            </a:avLst>
          </a:prstGeom>
          <a:solidFill>
            <a:srgbClr val="00A896">
              <a:alpha val="22000"/>
            </a:srgbClr>
          </a:solidFill>
          <a:ln w="12700">
            <a:solidFill>
              <a:srgbClr val="00A896"/>
            </a:solidFill>
            <a:prstDash val="solid"/>
          </a:ln>
        </p:spPr>
      </p:sp>
      <p:sp>
        <p:nvSpPr>
          <p:cNvPr id="3" name="Shape 1"/>
          <p:cNvSpPr/>
          <p:nvPr/>
        </p:nvSpPr>
        <p:spPr>
          <a:xfrm>
            <a:off x="10469880" y="1005840"/>
            <a:ext cx="640080" cy="640080"/>
          </a:xfrm>
          <a:prstGeom prst="roundRect">
            <a:avLst>
              <a:gd name="adj" fmla="val 11429"/>
            </a:avLst>
          </a:prstGeom>
          <a:solidFill>
            <a:srgbClr val="02C39A">
              <a:alpha val="22000"/>
            </a:srgbClr>
          </a:solidFill>
          <a:ln w="12700">
            <a:solidFill>
              <a:srgbClr val="02C39A"/>
            </a:solidFill>
            <a:prstDash val="solid"/>
          </a:ln>
        </p:spPr>
      </p:sp>
      <p:sp>
        <p:nvSpPr>
          <p:cNvPr id="4" name="Shape 2"/>
          <p:cNvSpPr/>
          <p:nvPr/>
        </p:nvSpPr>
        <p:spPr>
          <a:xfrm>
            <a:off x="11247120" y="1005840"/>
            <a:ext cx="640080" cy="640080"/>
          </a:xfrm>
          <a:prstGeom prst="roundRect">
            <a:avLst>
              <a:gd name="adj" fmla="val 11429"/>
            </a:avLst>
          </a:prstGeom>
          <a:solidFill>
            <a:srgbClr val="028090">
              <a:alpha val="22000"/>
            </a:srgbClr>
          </a:solidFill>
          <a:ln w="12700">
            <a:solidFill>
              <a:srgbClr val="028090"/>
            </a:solidFill>
            <a:prstDash val="solid"/>
          </a:ln>
        </p:spPr>
      </p:sp>
      <p:sp>
        <p:nvSpPr>
          <p:cNvPr id="5" name="Shape 3"/>
          <p:cNvSpPr/>
          <p:nvPr/>
        </p:nvSpPr>
        <p:spPr>
          <a:xfrm>
            <a:off x="9692640" y="1783080"/>
            <a:ext cx="640080" cy="640080"/>
          </a:xfrm>
          <a:prstGeom prst="roundRect">
            <a:avLst>
              <a:gd name="adj" fmla="val 11429"/>
            </a:avLst>
          </a:prstGeom>
          <a:solidFill>
            <a:srgbClr val="00A896">
              <a:alpha val="22000"/>
            </a:srgbClr>
          </a:solidFill>
          <a:ln w="12700">
            <a:solidFill>
              <a:srgbClr val="00A896"/>
            </a:solidFill>
            <a:prstDash val="solid"/>
          </a:ln>
        </p:spPr>
      </p:sp>
      <p:sp>
        <p:nvSpPr>
          <p:cNvPr id="6" name="Shape 4"/>
          <p:cNvSpPr/>
          <p:nvPr/>
        </p:nvSpPr>
        <p:spPr>
          <a:xfrm>
            <a:off x="10469880" y="1783080"/>
            <a:ext cx="640080" cy="640080"/>
          </a:xfrm>
          <a:prstGeom prst="roundRect">
            <a:avLst>
              <a:gd name="adj" fmla="val 11429"/>
            </a:avLst>
          </a:prstGeom>
          <a:solidFill>
            <a:srgbClr val="02C39A">
              <a:alpha val="22000"/>
            </a:srgbClr>
          </a:solidFill>
          <a:ln w="12700">
            <a:solidFill>
              <a:srgbClr val="02C39A"/>
            </a:solidFill>
            <a:prstDash val="solid"/>
          </a:ln>
        </p:spPr>
      </p:sp>
      <p:sp>
        <p:nvSpPr>
          <p:cNvPr id="7" name="Shape 5"/>
          <p:cNvSpPr/>
          <p:nvPr/>
        </p:nvSpPr>
        <p:spPr>
          <a:xfrm>
            <a:off x="11247120" y="1783080"/>
            <a:ext cx="640080" cy="640080"/>
          </a:xfrm>
          <a:prstGeom prst="roundRect">
            <a:avLst>
              <a:gd name="adj" fmla="val 11429"/>
            </a:avLst>
          </a:prstGeom>
          <a:solidFill>
            <a:srgbClr val="028090">
              <a:alpha val="22000"/>
            </a:srgbClr>
          </a:solidFill>
          <a:ln w="12700">
            <a:solidFill>
              <a:srgbClr val="028090"/>
            </a:solidFill>
            <a:prstDash val="solid"/>
          </a:ln>
        </p:spPr>
      </p:sp>
      <p:sp>
        <p:nvSpPr>
          <p:cNvPr id="8" name="Text 6"/>
          <p:cNvSpPr/>
          <p:nvPr/>
        </p:nvSpPr>
        <p:spPr>
          <a:xfrm>
            <a:off x="640080" y="2331720"/>
            <a:ext cx="9601200" cy="365760"/>
          </a:xfrm>
          <a:prstGeom prst="rect">
            <a:avLst/>
          </a:prstGeom>
          <a:noFill/>
          <a:ln/>
        </p:spPr>
        <p:txBody>
          <a:bodyPr wrap="square" lIns="0" tIns="0" rIns="0" bIns="0" rtlCol="0" anchor="ctr"/>
          <a:lstStyle/>
          <a:p>
            <a:pPr marL="0" indent="0">
              <a:buNone/>
            </a:pPr>
            <a:r>
              <a:rPr lang="en-US" sz="1400" b="1" kern="0" spc="300" dirty="0">
                <a:solidFill>
                  <a:srgbClr val="02C39A"/>
                </a:solidFill>
                <a:latin typeface="Calibri" pitchFamily="34" charset="0"/>
                <a:ea typeface="Calibri" pitchFamily="34" charset="-122"/>
                <a:cs typeface="Calibri" pitchFamily="34" charset="-120"/>
              </a:rPr>
              <a:t>DEADSTOCK MANAGEMENT SYSTEM</a:t>
            </a:r>
            <a:endParaRPr lang="en-US" sz="1400" dirty="0"/>
          </a:p>
        </p:txBody>
      </p:sp>
      <p:sp>
        <p:nvSpPr>
          <p:cNvPr id="9" name="Text 7"/>
          <p:cNvSpPr/>
          <p:nvPr/>
        </p:nvSpPr>
        <p:spPr>
          <a:xfrm>
            <a:off x="640080" y="2697480"/>
            <a:ext cx="9875520" cy="1188720"/>
          </a:xfrm>
          <a:prstGeom prst="rect">
            <a:avLst/>
          </a:prstGeom>
          <a:noFill/>
          <a:ln/>
        </p:spPr>
        <p:txBody>
          <a:bodyPr wrap="square" lIns="0" tIns="0" rIns="0" bIns="0"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Turning Unsold Stock Into Recovered Revenue</a:t>
            </a:r>
            <a:endParaRPr lang="en-US" sz="4000" dirty="0"/>
          </a:p>
        </p:txBody>
      </p:sp>
      <p:sp>
        <p:nvSpPr>
          <p:cNvPr id="10" name="Text 8"/>
          <p:cNvSpPr/>
          <p:nvPr/>
        </p:nvSpPr>
        <p:spPr>
          <a:xfrm>
            <a:off x="658368" y="3794760"/>
            <a:ext cx="8046720" cy="640080"/>
          </a:xfrm>
          <a:prstGeom prst="rect">
            <a:avLst/>
          </a:prstGeom>
          <a:noFill/>
          <a:ln/>
        </p:spPr>
        <p:txBody>
          <a:bodyPr wrap="square" lIns="0" tIns="0" rIns="0" bIns="0" rtlCol="0" anchor="ctr"/>
          <a:lstStyle/>
          <a:p>
            <a:pPr marL="0" indent="0">
              <a:lnSpc>
                <a:spcPct val="120000"/>
              </a:lnSpc>
              <a:buNone/>
            </a:pPr>
            <a:r>
              <a:rPr lang="en-US" sz="1500" dirty="0">
                <a:solidFill>
                  <a:srgbClr val="CFE3E1"/>
                </a:solidFill>
                <a:latin typeface="Calibri" pitchFamily="34" charset="0"/>
                <a:ea typeface="Calibri" pitchFamily="34" charset="-122"/>
                <a:cs typeface="Calibri" pitchFamily="34" charset="-120"/>
              </a:rPr>
              <a:t>A verified marketplace where vendors track, audit, and resell deadstock inventory to other buyers.</a:t>
            </a:r>
            <a:endParaRPr lang="en-US" sz="1500" dirty="0"/>
          </a:p>
        </p:txBody>
      </p:sp>
      <p:sp>
        <p:nvSpPr>
          <p:cNvPr id="11" name="Shape 9"/>
          <p:cNvSpPr/>
          <p:nvPr/>
        </p:nvSpPr>
        <p:spPr>
          <a:xfrm>
            <a:off x="658368" y="4526280"/>
            <a:ext cx="1280160" cy="0"/>
          </a:xfrm>
          <a:prstGeom prst="line">
            <a:avLst/>
          </a:prstGeom>
          <a:noFill/>
          <a:ln w="31750">
            <a:solidFill>
              <a:srgbClr val="02C39A"/>
            </a:solidFill>
            <a:prstDash val="solid"/>
          </a:ln>
        </p:spPr>
      </p:sp>
      <p:sp>
        <p:nvSpPr>
          <p:cNvPr id="12" name="Text 10"/>
          <p:cNvSpPr/>
          <p:nvPr/>
        </p:nvSpPr>
        <p:spPr>
          <a:xfrm>
            <a:off x="658368" y="4709160"/>
            <a:ext cx="5486400" cy="320040"/>
          </a:xfrm>
          <a:prstGeom prst="rect">
            <a:avLst/>
          </a:prstGeom>
          <a:noFill/>
          <a:ln/>
        </p:spPr>
        <p:txBody>
          <a:bodyPr wrap="square" lIns="0" tIns="0" rIns="0" bIns="0" rtlCol="0" anchor="ctr"/>
          <a:lstStyle/>
          <a:p>
            <a:pPr marL="0" indent="0">
              <a:buNone/>
            </a:pPr>
            <a:endParaRPr lang="en-US" sz="1200" dirty="0"/>
          </a:p>
        </p:txBody>
      </p:sp>
      <p:sp>
        <p:nvSpPr>
          <p:cNvPr id="13" name="Text 11"/>
          <p:cNvSpPr/>
          <p:nvPr/>
        </p:nvSpPr>
        <p:spPr>
          <a:xfrm>
            <a:off x="658368" y="5212080"/>
            <a:ext cx="3657600" cy="274320"/>
          </a:xfrm>
          <a:prstGeom prst="rect">
            <a:avLst/>
          </a:prstGeom>
          <a:noFill/>
          <a:ln/>
        </p:spPr>
        <p:txBody>
          <a:bodyPr wrap="square" lIns="0" tIns="0" rIns="0" bIns="0" rtlCol="0" anchor="ctr"/>
          <a:lstStyle/>
          <a:p>
            <a:pPr marL="0" indent="0">
              <a:buNone/>
            </a:pPr>
            <a:r>
              <a:rPr lang="en-US" sz="1050" b="1" kern="0" spc="200" dirty="0">
                <a:solidFill>
                  <a:srgbClr val="02C39A"/>
                </a:solidFill>
                <a:latin typeface="Calibri" pitchFamily="34" charset="0"/>
                <a:ea typeface="Calibri" pitchFamily="34" charset="-122"/>
                <a:cs typeface="Calibri" pitchFamily="34" charset="-120"/>
              </a:rPr>
              <a:t>PRESENTED BY</a:t>
            </a:r>
            <a:endParaRPr lang="en-US" sz="1050" dirty="0"/>
          </a:p>
        </p:txBody>
      </p:sp>
      <p:sp>
        <p:nvSpPr>
          <p:cNvPr id="14" name="Text 12"/>
          <p:cNvSpPr/>
          <p:nvPr/>
        </p:nvSpPr>
        <p:spPr>
          <a:xfrm>
            <a:off x="658368" y="5486400"/>
            <a:ext cx="265176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Aryan Gupta</a:t>
            </a:r>
            <a:endParaRPr lang="en-US" sz="1300" dirty="0"/>
          </a:p>
        </p:txBody>
      </p:sp>
      <p:sp>
        <p:nvSpPr>
          <p:cNvPr id="15" name="Text 13"/>
          <p:cNvSpPr/>
          <p:nvPr/>
        </p:nvSpPr>
        <p:spPr>
          <a:xfrm>
            <a:off x="658368" y="5760720"/>
            <a:ext cx="2651760" cy="256032"/>
          </a:xfrm>
          <a:prstGeom prst="rect">
            <a:avLst/>
          </a:prstGeom>
          <a:noFill/>
          <a:ln/>
        </p:spPr>
        <p:txBody>
          <a:bodyPr wrap="square" lIns="0" tIns="0" rIns="0" bIns="0" rtlCol="0" anchor="ctr"/>
          <a:lstStyle/>
          <a:p>
            <a:pPr marL="0" indent="0">
              <a:buNone/>
            </a:pPr>
            <a:r>
              <a:rPr lang="en-US" sz="1100" dirty="0">
                <a:solidFill>
                  <a:srgbClr val="9FC1BE"/>
                </a:solidFill>
                <a:latin typeface="Calibri" pitchFamily="34" charset="0"/>
                <a:ea typeface="Calibri" pitchFamily="34" charset="-122"/>
                <a:cs typeface="Calibri" pitchFamily="34" charset="-120"/>
              </a:rPr>
              <a:t>1024030455</a:t>
            </a:r>
            <a:endParaRPr lang="en-US" sz="1100" dirty="0"/>
          </a:p>
        </p:txBody>
      </p:sp>
      <p:sp>
        <p:nvSpPr>
          <p:cNvPr id="16" name="Text 14"/>
          <p:cNvSpPr/>
          <p:nvPr/>
        </p:nvSpPr>
        <p:spPr>
          <a:xfrm>
            <a:off x="3493008" y="5486400"/>
            <a:ext cx="265176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Abhilakshya Puri</a:t>
            </a:r>
            <a:endParaRPr lang="en-US" sz="1300" dirty="0"/>
          </a:p>
        </p:txBody>
      </p:sp>
      <p:sp>
        <p:nvSpPr>
          <p:cNvPr id="17" name="Text 15"/>
          <p:cNvSpPr/>
          <p:nvPr/>
        </p:nvSpPr>
        <p:spPr>
          <a:xfrm>
            <a:off x="3493008" y="5760720"/>
            <a:ext cx="2651760" cy="256032"/>
          </a:xfrm>
          <a:prstGeom prst="rect">
            <a:avLst/>
          </a:prstGeom>
          <a:noFill/>
          <a:ln/>
        </p:spPr>
        <p:txBody>
          <a:bodyPr wrap="square" lIns="0" tIns="0" rIns="0" bIns="0" rtlCol="0" anchor="ctr"/>
          <a:lstStyle/>
          <a:p>
            <a:pPr marL="0" indent="0">
              <a:buNone/>
            </a:pPr>
            <a:r>
              <a:rPr lang="en-US" sz="1100" dirty="0">
                <a:solidFill>
                  <a:srgbClr val="9FC1BE"/>
                </a:solidFill>
                <a:latin typeface="Calibri" pitchFamily="34" charset="0"/>
                <a:ea typeface="Calibri" pitchFamily="34" charset="-122"/>
                <a:cs typeface="Calibri" pitchFamily="34" charset="-120"/>
              </a:rPr>
              <a:t>1024030445</a:t>
            </a:r>
            <a:endParaRPr lang="en-US" sz="1100" dirty="0"/>
          </a:p>
        </p:txBody>
      </p:sp>
      <p:sp>
        <p:nvSpPr>
          <p:cNvPr id="18" name="Text 16"/>
          <p:cNvSpPr/>
          <p:nvPr/>
        </p:nvSpPr>
        <p:spPr>
          <a:xfrm>
            <a:off x="6327648" y="5486400"/>
            <a:ext cx="265176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Farhan Kansal</a:t>
            </a:r>
            <a:endParaRPr lang="en-US" sz="1300" dirty="0"/>
          </a:p>
        </p:txBody>
      </p:sp>
      <p:sp>
        <p:nvSpPr>
          <p:cNvPr id="19" name="Text 17"/>
          <p:cNvSpPr/>
          <p:nvPr/>
        </p:nvSpPr>
        <p:spPr>
          <a:xfrm>
            <a:off x="6327648" y="5760720"/>
            <a:ext cx="2651760" cy="256032"/>
          </a:xfrm>
          <a:prstGeom prst="rect">
            <a:avLst/>
          </a:prstGeom>
          <a:noFill/>
          <a:ln/>
        </p:spPr>
        <p:txBody>
          <a:bodyPr wrap="square" lIns="0" tIns="0" rIns="0" bIns="0" rtlCol="0" anchor="ctr"/>
          <a:lstStyle/>
          <a:p>
            <a:pPr marL="0" indent="0">
              <a:buNone/>
            </a:pPr>
            <a:r>
              <a:rPr lang="en-US" sz="1100" dirty="0">
                <a:solidFill>
                  <a:srgbClr val="9FC1BE"/>
                </a:solidFill>
                <a:latin typeface="Calibri" pitchFamily="34" charset="0"/>
                <a:ea typeface="Calibri" pitchFamily="34" charset="-122"/>
                <a:cs typeface="Calibri" pitchFamily="34" charset="-120"/>
              </a:rPr>
              <a:t>1024030451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6"/>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lIns="0" tIns="0" rIns="0" bIns="0" rtlCol="0" anchor="ctr"/>
          <a:lstStyle/>
          <a:p>
            <a:pPr marL="0" indent="0">
              <a:buNone/>
            </a:pPr>
            <a:r>
              <a:rPr lang="en-US" sz="1300" b="1" kern="0" spc="300" dirty="0">
                <a:solidFill>
                  <a:srgbClr val="028090"/>
                </a:solidFill>
                <a:latin typeface="Calibri" pitchFamily="34" charset="0"/>
                <a:ea typeface="Calibri" pitchFamily="34" charset="-122"/>
                <a:cs typeface="Calibri" pitchFamily="34" charset="-120"/>
              </a:rPr>
              <a:t>MOTIVATION</a:t>
            </a:r>
            <a:endParaRPr lang="en-US" sz="1300" dirty="0"/>
          </a:p>
        </p:txBody>
      </p:sp>
      <p:sp>
        <p:nvSpPr>
          <p:cNvPr id="3" name="Text 1"/>
          <p:cNvSpPr/>
          <p:nvPr/>
        </p:nvSpPr>
        <p:spPr>
          <a:xfrm>
            <a:off x="640080" y="777240"/>
            <a:ext cx="9601200" cy="640080"/>
          </a:xfrm>
          <a:prstGeom prst="rect">
            <a:avLst/>
          </a:prstGeom>
          <a:noFill/>
          <a:ln/>
        </p:spPr>
        <p:txBody>
          <a:bodyPr wrap="square" lIns="0" tIns="0" rIns="0" bIns="0" rtlCol="0" anchor="ctr"/>
          <a:lstStyle/>
          <a:p>
            <a:pPr marL="0" indent="0">
              <a:buNone/>
            </a:pPr>
            <a:r>
              <a:rPr lang="en-US" sz="3000" b="1" dirty="0">
                <a:solidFill>
                  <a:srgbClr val="0B2B2E"/>
                </a:solidFill>
                <a:latin typeface="Cambria" pitchFamily="34" charset="0"/>
                <a:ea typeface="Cambria" pitchFamily="34" charset="-122"/>
                <a:cs typeface="Cambria" pitchFamily="34" charset="-120"/>
              </a:rPr>
              <a:t>Why This Problem Is Worth Solving</a:t>
            </a:r>
            <a:endParaRPr lang="en-US" sz="3000" dirty="0"/>
          </a:p>
        </p:txBody>
      </p:sp>
      <p:sp>
        <p:nvSpPr>
          <p:cNvPr id="4" name="Shape 2"/>
          <p:cNvSpPr/>
          <p:nvPr/>
        </p:nvSpPr>
        <p:spPr>
          <a:xfrm>
            <a:off x="685800" y="1874520"/>
            <a:ext cx="566928" cy="566928"/>
          </a:xfrm>
          <a:prstGeom prst="ellipse">
            <a:avLst/>
          </a:prstGeom>
          <a:solidFill>
            <a:srgbClr val="028090"/>
          </a:solidFill>
          <a:ln/>
        </p:spPr>
      </p:sp>
      <p:sp>
        <p:nvSpPr>
          <p:cNvPr id="5" name="Text 3"/>
          <p:cNvSpPr/>
          <p:nvPr/>
        </p:nvSpPr>
        <p:spPr>
          <a:xfrm>
            <a:off x="685800" y="187452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463040" y="1847088"/>
            <a:ext cx="5120640" cy="320040"/>
          </a:xfrm>
          <a:prstGeom prst="rect">
            <a:avLst/>
          </a:prstGeom>
          <a:noFill/>
          <a:ln/>
        </p:spPr>
        <p:txBody>
          <a:bodyPr wrap="square" lIns="0" tIns="0" rIns="0" bIns="0" rtlCol="0" anchor="ctr"/>
          <a:lstStyle/>
          <a:p>
            <a:pPr marL="0" indent="0">
              <a:buNone/>
            </a:pPr>
            <a:r>
              <a:rPr lang="en-US" sz="1600" b="1" dirty="0">
                <a:solidFill>
                  <a:srgbClr val="0B2B2E"/>
                </a:solidFill>
                <a:latin typeface="Calibri" pitchFamily="34" charset="0"/>
                <a:ea typeface="Calibri" pitchFamily="34" charset="-122"/>
                <a:cs typeface="Calibri" pitchFamily="34" charset="-120"/>
              </a:rPr>
              <a:t>Capital Trapped in Unsold Goods</a:t>
            </a:r>
            <a:endParaRPr lang="en-US" sz="1600" dirty="0"/>
          </a:p>
        </p:txBody>
      </p:sp>
      <p:sp>
        <p:nvSpPr>
          <p:cNvPr id="7" name="Text 5"/>
          <p:cNvSpPr/>
          <p:nvPr/>
        </p:nvSpPr>
        <p:spPr>
          <a:xfrm>
            <a:off x="1463040" y="2176272"/>
            <a:ext cx="5120640" cy="685800"/>
          </a:xfrm>
          <a:prstGeom prst="rect">
            <a:avLst/>
          </a:prstGeom>
          <a:noFill/>
          <a:ln/>
        </p:spPr>
        <p:txBody>
          <a:bodyPr wrap="square" lIns="0" tIns="0" rIns="0" bIns="0" rtlCol="0" anchor="ctr"/>
          <a:lstStyle/>
          <a:p>
            <a:pPr marL="0" indent="0">
              <a:lnSpc>
                <a:spcPct val="125000"/>
              </a:lnSpc>
              <a:buNone/>
            </a:pPr>
            <a:r>
              <a:rPr lang="en-US" sz="1250" dirty="0">
                <a:solidFill>
                  <a:srgbClr val="5C7A78"/>
                </a:solidFill>
                <a:latin typeface="Calibri" pitchFamily="34" charset="0"/>
                <a:ea typeface="Calibri" pitchFamily="34" charset="-122"/>
                <a:cs typeface="Calibri" pitchFamily="34" charset="-120"/>
              </a:rPr>
              <a:t>Vendors sink working capital into stock that never sells, starving cash flow for new inventory.</a:t>
            </a:r>
            <a:endParaRPr lang="en-US" sz="1250" dirty="0"/>
          </a:p>
        </p:txBody>
      </p:sp>
      <p:sp>
        <p:nvSpPr>
          <p:cNvPr id="8" name="Shape 6"/>
          <p:cNvSpPr/>
          <p:nvPr/>
        </p:nvSpPr>
        <p:spPr>
          <a:xfrm>
            <a:off x="685800" y="3108960"/>
            <a:ext cx="566928" cy="566928"/>
          </a:xfrm>
          <a:prstGeom prst="ellipse">
            <a:avLst/>
          </a:prstGeom>
          <a:solidFill>
            <a:srgbClr val="028090"/>
          </a:solidFill>
          <a:ln/>
        </p:spPr>
      </p:sp>
      <p:sp>
        <p:nvSpPr>
          <p:cNvPr id="9" name="Text 7"/>
          <p:cNvSpPr/>
          <p:nvPr/>
        </p:nvSpPr>
        <p:spPr>
          <a:xfrm>
            <a:off x="685800" y="310896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0" name="Text 8"/>
          <p:cNvSpPr/>
          <p:nvPr/>
        </p:nvSpPr>
        <p:spPr>
          <a:xfrm>
            <a:off x="1463040" y="3081528"/>
            <a:ext cx="5120640" cy="320040"/>
          </a:xfrm>
          <a:prstGeom prst="rect">
            <a:avLst/>
          </a:prstGeom>
          <a:noFill/>
          <a:ln/>
        </p:spPr>
        <p:txBody>
          <a:bodyPr wrap="square" lIns="0" tIns="0" rIns="0" bIns="0" rtlCol="0" anchor="ctr"/>
          <a:lstStyle/>
          <a:p>
            <a:pPr marL="0" indent="0">
              <a:buNone/>
            </a:pPr>
            <a:r>
              <a:rPr lang="en-US" sz="1600" b="1" dirty="0">
                <a:solidFill>
                  <a:srgbClr val="0B2B2E"/>
                </a:solidFill>
                <a:latin typeface="Calibri" pitchFamily="34" charset="0"/>
                <a:ea typeface="Calibri" pitchFamily="34" charset="-122"/>
                <a:cs typeface="Calibri" pitchFamily="34" charset="-120"/>
              </a:rPr>
              <a:t>Waste &amp; Write-Offs</a:t>
            </a:r>
            <a:endParaRPr lang="en-US" sz="1600" dirty="0"/>
          </a:p>
        </p:txBody>
      </p:sp>
      <p:sp>
        <p:nvSpPr>
          <p:cNvPr id="11" name="Text 9"/>
          <p:cNvSpPr/>
          <p:nvPr/>
        </p:nvSpPr>
        <p:spPr>
          <a:xfrm>
            <a:off x="1463040" y="3410712"/>
            <a:ext cx="5120640" cy="685800"/>
          </a:xfrm>
          <a:prstGeom prst="rect">
            <a:avLst/>
          </a:prstGeom>
          <a:noFill/>
          <a:ln/>
        </p:spPr>
        <p:txBody>
          <a:bodyPr wrap="square" lIns="0" tIns="0" rIns="0" bIns="0" rtlCol="0" anchor="ctr"/>
          <a:lstStyle/>
          <a:p>
            <a:pPr marL="0" indent="0">
              <a:lnSpc>
                <a:spcPct val="125000"/>
              </a:lnSpc>
              <a:buNone/>
            </a:pPr>
            <a:r>
              <a:rPr lang="en-US" sz="1250" dirty="0">
                <a:solidFill>
                  <a:srgbClr val="5C7A78"/>
                </a:solidFill>
                <a:latin typeface="Calibri" pitchFamily="34" charset="0"/>
                <a:ea typeface="Calibri" pitchFamily="34" charset="-122"/>
                <a:cs typeface="Calibri" pitchFamily="34" charset="-120"/>
              </a:rPr>
              <a:t>Unsold stock is often discarded, discounted below cost, or destroyed — a loss to the vendor and the environment.</a:t>
            </a:r>
            <a:endParaRPr lang="en-US" sz="1250" dirty="0"/>
          </a:p>
        </p:txBody>
      </p:sp>
      <p:sp>
        <p:nvSpPr>
          <p:cNvPr id="12" name="Shape 10"/>
          <p:cNvSpPr/>
          <p:nvPr/>
        </p:nvSpPr>
        <p:spPr>
          <a:xfrm>
            <a:off x="685800" y="4343400"/>
            <a:ext cx="566928" cy="566928"/>
          </a:xfrm>
          <a:prstGeom prst="ellipse">
            <a:avLst/>
          </a:prstGeom>
          <a:solidFill>
            <a:srgbClr val="028090"/>
          </a:solidFill>
          <a:ln/>
        </p:spPr>
      </p:sp>
      <p:sp>
        <p:nvSpPr>
          <p:cNvPr id="13" name="Text 11"/>
          <p:cNvSpPr/>
          <p:nvPr/>
        </p:nvSpPr>
        <p:spPr>
          <a:xfrm>
            <a:off x="685800" y="434340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4" name="Text 12"/>
          <p:cNvSpPr/>
          <p:nvPr/>
        </p:nvSpPr>
        <p:spPr>
          <a:xfrm>
            <a:off x="1463040" y="4315968"/>
            <a:ext cx="5120640" cy="320040"/>
          </a:xfrm>
          <a:prstGeom prst="rect">
            <a:avLst/>
          </a:prstGeom>
          <a:noFill/>
          <a:ln/>
        </p:spPr>
        <p:txBody>
          <a:bodyPr wrap="square" lIns="0" tIns="0" rIns="0" bIns="0" rtlCol="0" anchor="ctr"/>
          <a:lstStyle/>
          <a:p>
            <a:pPr marL="0" indent="0">
              <a:buNone/>
            </a:pPr>
            <a:r>
              <a:rPr lang="en-US" sz="1600" b="1" dirty="0">
                <a:solidFill>
                  <a:srgbClr val="0B2B2E"/>
                </a:solidFill>
                <a:latin typeface="Calibri" pitchFamily="34" charset="0"/>
                <a:ea typeface="Calibri" pitchFamily="34" charset="-122"/>
                <a:cs typeface="Calibri" pitchFamily="34" charset="-120"/>
              </a:rPr>
              <a:t>No Structured Resale Channel</a:t>
            </a:r>
            <a:endParaRPr lang="en-US" sz="1600" dirty="0"/>
          </a:p>
        </p:txBody>
      </p:sp>
      <p:sp>
        <p:nvSpPr>
          <p:cNvPr id="15" name="Text 13"/>
          <p:cNvSpPr/>
          <p:nvPr/>
        </p:nvSpPr>
        <p:spPr>
          <a:xfrm>
            <a:off x="1463040" y="4645152"/>
            <a:ext cx="5120640" cy="685800"/>
          </a:xfrm>
          <a:prstGeom prst="rect">
            <a:avLst/>
          </a:prstGeom>
          <a:noFill/>
          <a:ln/>
        </p:spPr>
        <p:txBody>
          <a:bodyPr wrap="square" lIns="0" tIns="0" rIns="0" bIns="0" rtlCol="0" anchor="ctr"/>
          <a:lstStyle/>
          <a:p>
            <a:pPr marL="0" indent="0">
              <a:lnSpc>
                <a:spcPct val="125000"/>
              </a:lnSpc>
              <a:buNone/>
            </a:pPr>
            <a:r>
              <a:rPr lang="en-US" sz="1250" dirty="0">
                <a:solidFill>
                  <a:srgbClr val="5C7A78"/>
                </a:solidFill>
                <a:latin typeface="Calibri" pitchFamily="34" charset="0"/>
                <a:ea typeface="Calibri" pitchFamily="34" charset="-122"/>
                <a:cs typeface="Calibri" pitchFamily="34" charset="-120"/>
              </a:rPr>
              <a:t>There's no trusted, organized channel for one vendor's deadstock to become another buyer's opportunity.</a:t>
            </a:r>
            <a:endParaRPr lang="en-US" sz="1250" dirty="0"/>
          </a:p>
        </p:txBody>
      </p:sp>
      <p:sp>
        <p:nvSpPr>
          <p:cNvPr id="16" name="Shape 14"/>
          <p:cNvSpPr/>
          <p:nvPr/>
        </p:nvSpPr>
        <p:spPr>
          <a:xfrm>
            <a:off x="7315200" y="1691640"/>
            <a:ext cx="4206240" cy="4434840"/>
          </a:xfrm>
          <a:prstGeom prst="roundRect">
            <a:avLst>
              <a:gd name="adj" fmla="val 2609"/>
            </a:avLst>
          </a:prstGeom>
          <a:solidFill>
            <a:srgbClr val="0B2B2E"/>
          </a:solidFill>
          <a:ln/>
        </p:spPr>
      </p:sp>
      <p:sp>
        <p:nvSpPr>
          <p:cNvPr id="17" name="Text 15"/>
          <p:cNvSpPr/>
          <p:nvPr/>
        </p:nvSpPr>
        <p:spPr>
          <a:xfrm>
            <a:off x="7589520" y="1965960"/>
            <a:ext cx="3657600" cy="274320"/>
          </a:xfrm>
          <a:prstGeom prst="rect">
            <a:avLst/>
          </a:prstGeom>
          <a:noFill/>
          <a:ln/>
        </p:spPr>
        <p:txBody>
          <a:bodyPr wrap="square" lIns="0" tIns="0" rIns="0" bIns="0" rtlCol="0" anchor="ctr"/>
          <a:lstStyle/>
          <a:p>
            <a:pPr marL="0" indent="0">
              <a:buNone/>
            </a:pPr>
            <a:r>
              <a:rPr lang="en-US" sz="1100" b="1" kern="0" spc="200" dirty="0">
                <a:solidFill>
                  <a:srgbClr val="02C39A"/>
                </a:solidFill>
                <a:latin typeface="Calibri" pitchFamily="34" charset="0"/>
                <a:ea typeface="Calibri" pitchFamily="34" charset="-122"/>
                <a:cs typeface="Calibri" pitchFamily="34" charset="-120"/>
              </a:rPr>
              <a:t>INDIA RETAIL</a:t>
            </a:r>
            <a:endParaRPr lang="en-US" sz="1100" dirty="0"/>
          </a:p>
        </p:txBody>
      </p:sp>
      <p:sp>
        <p:nvSpPr>
          <p:cNvPr id="18" name="Text 16"/>
          <p:cNvSpPr/>
          <p:nvPr/>
        </p:nvSpPr>
        <p:spPr>
          <a:xfrm>
            <a:off x="7543800" y="2194560"/>
            <a:ext cx="3657600" cy="91440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20-30%</a:t>
            </a:r>
            <a:endParaRPr lang="en-US" sz="5400" dirty="0"/>
          </a:p>
        </p:txBody>
      </p:sp>
      <p:sp>
        <p:nvSpPr>
          <p:cNvPr id="19" name="Text 17"/>
          <p:cNvSpPr/>
          <p:nvPr/>
        </p:nvSpPr>
        <p:spPr>
          <a:xfrm>
            <a:off x="7589520" y="3063240"/>
            <a:ext cx="3611880" cy="868680"/>
          </a:xfrm>
          <a:prstGeom prst="rect">
            <a:avLst/>
          </a:prstGeom>
          <a:noFill/>
          <a:ln/>
        </p:spPr>
        <p:txBody>
          <a:bodyPr wrap="square" lIns="0" tIns="0" rIns="0" bIns="0" rtlCol="0" anchor="ctr"/>
          <a:lstStyle/>
          <a:p>
            <a:pPr marL="0" indent="0">
              <a:lnSpc>
                <a:spcPct val="125000"/>
              </a:lnSpc>
              <a:buNone/>
            </a:pPr>
            <a:r>
              <a:rPr lang="en-US" sz="1250" dirty="0">
                <a:solidFill>
                  <a:srgbClr val="CFE3E1"/>
                </a:solidFill>
                <a:latin typeface="Calibri" pitchFamily="34" charset="0"/>
                <a:ea typeface="Calibri" pitchFamily="34" charset="-122"/>
                <a:cs typeface="Calibri" pitchFamily="34" charset="-120"/>
              </a:rPr>
              <a:t>of retail inventory value is estimated to sit idle as slow-moving or dead stock annually.</a:t>
            </a:r>
            <a:endParaRPr lang="en-US" sz="1250" dirty="0"/>
          </a:p>
        </p:txBody>
      </p:sp>
      <p:sp>
        <p:nvSpPr>
          <p:cNvPr id="20" name="Shape 18"/>
          <p:cNvSpPr/>
          <p:nvPr/>
        </p:nvSpPr>
        <p:spPr>
          <a:xfrm>
            <a:off x="7589520" y="4114800"/>
            <a:ext cx="3383280" cy="0"/>
          </a:xfrm>
          <a:prstGeom prst="line">
            <a:avLst/>
          </a:prstGeom>
          <a:noFill/>
          <a:ln w="12700">
            <a:solidFill>
              <a:srgbClr val="1E4A4C"/>
            </a:solidFill>
            <a:prstDash val="solid"/>
          </a:ln>
        </p:spPr>
      </p:sp>
      <p:sp>
        <p:nvSpPr>
          <p:cNvPr id="21" name="Text 19"/>
          <p:cNvSpPr/>
          <p:nvPr/>
        </p:nvSpPr>
        <p:spPr>
          <a:xfrm>
            <a:off x="7543800" y="4297680"/>
            <a:ext cx="3657600" cy="594360"/>
          </a:xfrm>
          <a:prstGeom prst="rect">
            <a:avLst/>
          </a:prstGeom>
          <a:noFill/>
          <a:ln/>
        </p:spPr>
        <p:txBody>
          <a:bodyPr wrap="square" lIns="0" tIns="0" rIns="0" bIns="0" rtlCol="0" anchor="ctr"/>
          <a:lstStyle/>
          <a:p>
            <a:pPr marL="0" indent="0">
              <a:buNone/>
            </a:pPr>
            <a:r>
              <a:rPr lang="en-US" sz="3000" b="1" dirty="0">
                <a:solidFill>
                  <a:srgbClr val="02C39A"/>
                </a:solidFill>
                <a:latin typeface="Cambria" pitchFamily="34" charset="0"/>
                <a:ea typeface="Cambria" pitchFamily="34" charset="-122"/>
                <a:cs typeface="Cambria" pitchFamily="34" charset="-120"/>
              </a:rPr>
              <a:t>2,00,000+</a:t>
            </a:r>
            <a:endParaRPr lang="en-US" sz="3000" dirty="0"/>
          </a:p>
        </p:txBody>
      </p:sp>
      <p:sp>
        <p:nvSpPr>
          <p:cNvPr id="22" name="Text 20"/>
          <p:cNvSpPr/>
          <p:nvPr/>
        </p:nvSpPr>
        <p:spPr>
          <a:xfrm>
            <a:off x="7589520" y="4892040"/>
            <a:ext cx="3611880" cy="1051560"/>
          </a:xfrm>
          <a:prstGeom prst="rect">
            <a:avLst/>
          </a:prstGeom>
          <a:noFill/>
          <a:ln/>
        </p:spPr>
        <p:txBody>
          <a:bodyPr wrap="square" lIns="0" tIns="0" rIns="0" bIns="0" rtlCol="0" anchor="ctr"/>
          <a:lstStyle/>
          <a:p>
            <a:pPr marL="0" indent="0">
              <a:lnSpc>
                <a:spcPct val="125000"/>
              </a:lnSpc>
              <a:buNone/>
            </a:pPr>
            <a:r>
              <a:rPr lang="en-US" sz="1250" dirty="0">
                <a:solidFill>
                  <a:srgbClr val="CFE3E1"/>
                </a:solidFill>
                <a:latin typeface="Calibri" pitchFamily="34" charset="0"/>
                <a:ea typeface="Calibri" pitchFamily="34" charset="-122"/>
                <a:cs typeface="Calibri" pitchFamily="34" charset="-120"/>
              </a:rPr>
              <a:t>licensed liquor &amp; FMCG retailers in India alone face recurring dead-stock write-offs each year.</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lIns="0" tIns="0" rIns="0" bIns="0" rtlCol="0" anchor="ctr"/>
          <a:lstStyle/>
          <a:p>
            <a:pPr marL="0" indent="0">
              <a:buNone/>
            </a:pPr>
            <a:r>
              <a:rPr lang="en-US" sz="1300" b="1" kern="0" spc="300" dirty="0">
                <a:solidFill>
                  <a:srgbClr val="028090"/>
                </a:solidFill>
                <a:latin typeface="Calibri" pitchFamily="34" charset="0"/>
                <a:ea typeface="Calibri" pitchFamily="34" charset="-122"/>
                <a:cs typeface="Calibri" pitchFamily="34" charset="-120"/>
              </a:rPr>
              <a:t>PROBLEM STATEMENT</a:t>
            </a:r>
            <a:endParaRPr lang="en-US" sz="1300" dirty="0"/>
          </a:p>
        </p:txBody>
      </p:sp>
      <p:sp>
        <p:nvSpPr>
          <p:cNvPr id="3" name="Text 1"/>
          <p:cNvSpPr/>
          <p:nvPr/>
        </p:nvSpPr>
        <p:spPr>
          <a:xfrm>
            <a:off x="640080" y="777240"/>
            <a:ext cx="9601200" cy="640080"/>
          </a:xfrm>
          <a:prstGeom prst="rect">
            <a:avLst/>
          </a:prstGeom>
          <a:noFill/>
          <a:ln/>
        </p:spPr>
        <p:txBody>
          <a:bodyPr wrap="square" lIns="0" tIns="0" rIns="0" bIns="0" rtlCol="0" anchor="ctr"/>
          <a:lstStyle/>
          <a:p>
            <a:pPr marL="0" indent="0">
              <a:buNone/>
            </a:pPr>
            <a:r>
              <a:rPr lang="en-US" sz="3000" b="1" dirty="0">
                <a:solidFill>
                  <a:srgbClr val="0B2B2E"/>
                </a:solidFill>
                <a:latin typeface="Cambria" pitchFamily="34" charset="0"/>
                <a:ea typeface="Cambria" pitchFamily="34" charset="-122"/>
                <a:cs typeface="Cambria" pitchFamily="34" charset="-120"/>
              </a:rPr>
              <a:t>What's Actually Broken Today</a:t>
            </a:r>
            <a:endParaRPr lang="en-US" sz="3000" dirty="0"/>
          </a:p>
        </p:txBody>
      </p:sp>
      <p:sp>
        <p:nvSpPr>
          <p:cNvPr id="4" name="Shape 2"/>
          <p:cNvSpPr/>
          <p:nvPr/>
        </p:nvSpPr>
        <p:spPr>
          <a:xfrm>
            <a:off x="640080" y="1783080"/>
            <a:ext cx="5257800" cy="2148840"/>
          </a:xfrm>
          <a:prstGeom prst="roundRect">
            <a:avLst>
              <a:gd name="adj" fmla="val 4255"/>
            </a:avLst>
          </a:prstGeom>
          <a:solidFill>
            <a:srgbClr val="F5F9F8"/>
          </a:solidFill>
          <a:ln w="12700">
            <a:solidFill>
              <a:srgbClr val="E1EAE9"/>
            </a:solidFill>
            <a:prstDash val="solid"/>
          </a:ln>
        </p:spPr>
      </p:sp>
      <p:sp>
        <p:nvSpPr>
          <p:cNvPr id="5" name="Shape 3"/>
          <p:cNvSpPr/>
          <p:nvPr/>
        </p:nvSpPr>
        <p:spPr>
          <a:xfrm>
            <a:off x="914400" y="2057400"/>
            <a:ext cx="502920" cy="502920"/>
          </a:xfrm>
          <a:prstGeom prst="ellipse">
            <a:avLst/>
          </a:prstGeom>
          <a:solidFill>
            <a:srgbClr val="FBE3DE"/>
          </a:solidFill>
          <a:ln/>
        </p:spPr>
      </p:sp>
      <p:sp>
        <p:nvSpPr>
          <p:cNvPr id="6" name="Text 4"/>
          <p:cNvSpPr/>
          <p:nvPr/>
        </p:nvSpPr>
        <p:spPr>
          <a:xfrm>
            <a:off x="914400" y="2057400"/>
            <a:ext cx="502920" cy="502920"/>
          </a:xfrm>
          <a:prstGeom prst="rect">
            <a:avLst/>
          </a:prstGeom>
          <a:noFill/>
          <a:ln/>
        </p:spPr>
        <p:txBody>
          <a:bodyPr wrap="square" lIns="0" tIns="0" rIns="0" bIns="0" rtlCol="0" anchor="ctr"/>
          <a:lstStyle/>
          <a:p>
            <a:pPr marL="0" indent="0" algn="ctr">
              <a:buNone/>
            </a:pPr>
            <a:r>
              <a:rPr lang="en-US" sz="1800" b="1" dirty="0">
                <a:solidFill>
                  <a:srgbClr val="C0392B"/>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600200" y="2039112"/>
            <a:ext cx="4069080" cy="365760"/>
          </a:xfrm>
          <a:prstGeom prst="rect">
            <a:avLst/>
          </a:prstGeom>
          <a:noFill/>
          <a:ln/>
        </p:spPr>
        <p:txBody>
          <a:bodyPr wrap="square" lIns="0" tIns="0" rIns="0" bIns="0" rtlCol="0" anchor="ctr"/>
          <a:lstStyle/>
          <a:p>
            <a:pPr marL="0" indent="0">
              <a:buNone/>
            </a:pPr>
            <a:r>
              <a:rPr lang="en-US" sz="1550" b="1" dirty="0">
                <a:solidFill>
                  <a:srgbClr val="0B2B2E"/>
                </a:solidFill>
                <a:latin typeface="Calibri" pitchFamily="34" charset="0"/>
                <a:ea typeface="Calibri" pitchFamily="34" charset="-122"/>
                <a:cs typeface="Calibri" pitchFamily="34" charset="-120"/>
              </a:rPr>
              <a:t>No Real-Time Visibility</a:t>
            </a:r>
            <a:endParaRPr lang="en-US" sz="1550" dirty="0"/>
          </a:p>
        </p:txBody>
      </p:sp>
      <p:sp>
        <p:nvSpPr>
          <p:cNvPr id="8" name="Text 6"/>
          <p:cNvSpPr/>
          <p:nvPr/>
        </p:nvSpPr>
        <p:spPr>
          <a:xfrm>
            <a:off x="914400" y="2651760"/>
            <a:ext cx="4709160" cy="1143000"/>
          </a:xfrm>
          <a:prstGeom prst="rect">
            <a:avLst/>
          </a:prstGeom>
          <a:noFill/>
          <a:ln/>
        </p:spPr>
        <p:txBody>
          <a:bodyPr wrap="square" lIns="0" tIns="0" rIns="0" bIns="0" rtlCol="0" anchor="ctr"/>
          <a:lstStyle/>
          <a:p>
            <a:pPr marL="0" indent="0">
              <a:lnSpc>
                <a:spcPct val="128000"/>
              </a:lnSpc>
              <a:buNone/>
            </a:pPr>
            <a:r>
              <a:rPr lang="en-US" sz="1200" dirty="0">
                <a:solidFill>
                  <a:srgbClr val="5C7A78"/>
                </a:solidFill>
                <a:latin typeface="Calibri" pitchFamily="34" charset="0"/>
                <a:ea typeface="Calibri" pitchFamily="34" charset="-122"/>
                <a:cs typeface="Calibri" pitchFamily="34" charset="-120"/>
              </a:rPr>
              <a:t>Vendors track stock in spreadsheets or registers — no live view of what's aging into deadstock until it's too late.</a:t>
            </a:r>
            <a:endParaRPr lang="en-US" sz="1200" dirty="0"/>
          </a:p>
        </p:txBody>
      </p:sp>
      <p:sp>
        <p:nvSpPr>
          <p:cNvPr id="9" name="Shape 7"/>
          <p:cNvSpPr/>
          <p:nvPr/>
        </p:nvSpPr>
        <p:spPr>
          <a:xfrm>
            <a:off x="6217920" y="1783080"/>
            <a:ext cx="5257800" cy="2148840"/>
          </a:xfrm>
          <a:prstGeom prst="roundRect">
            <a:avLst>
              <a:gd name="adj" fmla="val 4255"/>
            </a:avLst>
          </a:prstGeom>
          <a:solidFill>
            <a:srgbClr val="F5F9F8"/>
          </a:solidFill>
          <a:ln w="12700">
            <a:solidFill>
              <a:srgbClr val="E1EAE9"/>
            </a:solidFill>
            <a:prstDash val="solid"/>
          </a:ln>
        </p:spPr>
      </p:sp>
      <p:sp>
        <p:nvSpPr>
          <p:cNvPr id="10" name="Shape 8"/>
          <p:cNvSpPr/>
          <p:nvPr/>
        </p:nvSpPr>
        <p:spPr>
          <a:xfrm>
            <a:off x="6492240" y="2057400"/>
            <a:ext cx="502920" cy="502920"/>
          </a:xfrm>
          <a:prstGeom prst="ellipse">
            <a:avLst/>
          </a:prstGeom>
          <a:solidFill>
            <a:srgbClr val="FBE3DE"/>
          </a:solidFill>
          <a:ln/>
        </p:spPr>
      </p:sp>
      <p:sp>
        <p:nvSpPr>
          <p:cNvPr id="11" name="Text 9"/>
          <p:cNvSpPr/>
          <p:nvPr/>
        </p:nvSpPr>
        <p:spPr>
          <a:xfrm>
            <a:off x="6492240" y="2057400"/>
            <a:ext cx="502920" cy="502920"/>
          </a:xfrm>
          <a:prstGeom prst="rect">
            <a:avLst/>
          </a:prstGeom>
          <a:noFill/>
          <a:ln/>
        </p:spPr>
        <p:txBody>
          <a:bodyPr wrap="square" lIns="0" tIns="0" rIns="0" bIns="0" rtlCol="0" anchor="ctr"/>
          <a:lstStyle/>
          <a:p>
            <a:pPr marL="0" indent="0" algn="ctr">
              <a:buNone/>
            </a:pPr>
            <a:r>
              <a:rPr lang="en-US" sz="1800" b="1" dirty="0">
                <a:solidFill>
                  <a:srgbClr val="C0392B"/>
                </a:solidFill>
                <a:latin typeface="Calibri" pitchFamily="34" charset="0"/>
                <a:ea typeface="Calibri" pitchFamily="34" charset="-122"/>
                <a:cs typeface="Calibri" pitchFamily="34" charset="-120"/>
              </a:rPr>
              <a:t>?</a:t>
            </a:r>
            <a:endParaRPr lang="en-US" sz="1800" dirty="0"/>
          </a:p>
        </p:txBody>
      </p:sp>
      <p:sp>
        <p:nvSpPr>
          <p:cNvPr id="12" name="Text 10"/>
          <p:cNvSpPr/>
          <p:nvPr/>
        </p:nvSpPr>
        <p:spPr>
          <a:xfrm>
            <a:off x="7178040" y="2039112"/>
            <a:ext cx="4069080" cy="365760"/>
          </a:xfrm>
          <a:prstGeom prst="rect">
            <a:avLst/>
          </a:prstGeom>
          <a:noFill/>
          <a:ln/>
        </p:spPr>
        <p:txBody>
          <a:bodyPr wrap="square" lIns="0" tIns="0" rIns="0" bIns="0" rtlCol="0" anchor="ctr"/>
          <a:lstStyle/>
          <a:p>
            <a:pPr marL="0" indent="0">
              <a:buNone/>
            </a:pPr>
            <a:r>
              <a:rPr lang="en-US" sz="1550" b="1" dirty="0">
                <a:solidFill>
                  <a:srgbClr val="0B2B2E"/>
                </a:solidFill>
                <a:latin typeface="Calibri" pitchFamily="34" charset="0"/>
                <a:ea typeface="Calibri" pitchFamily="34" charset="-122"/>
                <a:cs typeface="Calibri" pitchFamily="34" charset="-120"/>
              </a:rPr>
              <a:t>No Way to Verify Deadstock</a:t>
            </a:r>
            <a:endParaRPr lang="en-US" sz="1550" dirty="0"/>
          </a:p>
        </p:txBody>
      </p:sp>
      <p:sp>
        <p:nvSpPr>
          <p:cNvPr id="13" name="Text 11"/>
          <p:cNvSpPr/>
          <p:nvPr/>
        </p:nvSpPr>
        <p:spPr>
          <a:xfrm>
            <a:off x="6492240" y="2651760"/>
            <a:ext cx="4709160" cy="1143000"/>
          </a:xfrm>
          <a:prstGeom prst="rect">
            <a:avLst/>
          </a:prstGeom>
          <a:noFill/>
          <a:ln/>
        </p:spPr>
        <p:txBody>
          <a:bodyPr wrap="square" lIns="0" tIns="0" rIns="0" bIns="0" rtlCol="0" anchor="ctr"/>
          <a:lstStyle/>
          <a:p>
            <a:pPr marL="0" indent="0">
              <a:lnSpc>
                <a:spcPct val="128000"/>
              </a:lnSpc>
              <a:buNone/>
            </a:pPr>
            <a:r>
              <a:rPr lang="en-US" sz="1200" dirty="0">
                <a:solidFill>
                  <a:srgbClr val="5C7A78"/>
                </a:solidFill>
                <a:latin typeface="Calibri" pitchFamily="34" charset="0"/>
                <a:ea typeface="Calibri" pitchFamily="34" charset="-122"/>
                <a:cs typeface="Calibri" pitchFamily="34" charset="-120"/>
              </a:rPr>
              <a:t>Buyers can't trust a listing without proof — condition, quantity, and authenticity are never independently confirmed.</a:t>
            </a:r>
            <a:endParaRPr lang="en-US" sz="1200" dirty="0"/>
          </a:p>
        </p:txBody>
      </p:sp>
      <p:sp>
        <p:nvSpPr>
          <p:cNvPr id="14" name="Shape 12"/>
          <p:cNvSpPr/>
          <p:nvPr/>
        </p:nvSpPr>
        <p:spPr>
          <a:xfrm>
            <a:off x="640080" y="4206240"/>
            <a:ext cx="5257800" cy="2148840"/>
          </a:xfrm>
          <a:prstGeom prst="roundRect">
            <a:avLst>
              <a:gd name="adj" fmla="val 4255"/>
            </a:avLst>
          </a:prstGeom>
          <a:solidFill>
            <a:srgbClr val="F5F9F8"/>
          </a:solidFill>
          <a:ln w="12700">
            <a:solidFill>
              <a:srgbClr val="E1EAE9"/>
            </a:solidFill>
            <a:prstDash val="solid"/>
          </a:ln>
        </p:spPr>
      </p:sp>
      <p:sp>
        <p:nvSpPr>
          <p:cNvPr id="15" name="Shape 13"/>
          <p:cNvSpPr/>
          <p:nvPr/>
        </p:nvSpPr>
        <p:spPr>
          <a:xfrm>
            <a:off x="914400" y="4480560"/>
            <a:ext cx="502920" cy="502920"/>
          </a:xfrm>
          <a:prstGeom prst="ellipse">
            <a:avLst/>
          </a:prstGeom>
          <a:solidFill>
            <a:srgbClr val="FBE3DE"/>
          </a:solidFill>
          <a:ln/>
        </p:spPr>
      </p:sp>
      <p:sp>
        <p:nvSpPr>
          <p:cNvPr id="16" name="Text 14"/>
          <p:cNvSpPr/>
          <p:nvPr/>
        </p:nvSpPr>
        <p:spPr>
          <a:xfrm>
            <a:off x="914400" y="4480560"/>
            <a:ext cx="502920" cy="502920"/>
          </a:xfrm>
          <a:prstGeom prst="rect">
            <a:avLst/>
          </a:prstGeom>
          <a:noFill/>
          <a:ln/>
        </p:spPr>
        <p:txBody>
          <a:bodyPr wrap="square" lIns="0" tIns="0" rIns="0" bIns="0" rtlCol="0" anchor="ctr"/>
          <a:lstStyle/>
          <a:p>
            <a:pPr marL="0" indent="0" algn="ctr">
              <a:buNone/>
            </a:pPr>
            <a:r>
              <a:rPr lang="en-US" sz="1800" b="1" dirty="0">
                <a:solidFill>
                  <a:srgbClr val="C0392B"/>
                </a:solidFill>
                <a:latin typeface="Calibri" pitchFamily="34" charset="0"/>
                <a:ea typeface="Calibri" pitchFamily="34" charset="-122"/>
                <a:cs typeface="Calibri" pitchFamily="34" charset="-120"/>
              </a:rPr>
              <a:t>⊘</a:t>
            </a:r>
            <a:endParaRPr lang="en-US" sz="1800" dirty="0"/>
          </a:p>
        </p:txBody>
      </p:sp>
      <p:sp>
        <p:nvSpPr>
          <p:cNvPr id="17" name="Text 15"/>
          <p:cNvSpPr/>
          <p:nvPr/>
        </p:nvSpPr>
        <p:spPr>
          <a:xfrm>
            <a:off x="1600200" y="4462272"/>
            <a:ext cx="4069080" cy="365760"/>
          </a:xfrm>
          <a:prstGeom prst="rect">
            <a:avLst/>
          </a:prstGeom>
          <a:noFill/>
          <a:ln/>
        </p:spPr>
        <p:txBody>
          <a:bodyPr wrap="square" lIns="0" tIns="0" rIns="0" bIns="0" rtlCol="0" anchor="ctr"/>
          <a:lstStyle/>
          <a:p>
            <a:pPr marL="0" indent="0">
              <a:buNone/>
            </a:pPr>
            <a:r>
              <a:rPr lang="en-US" sz="1550" b="1" dirty="0">
                <a:solidFill>
                  <a:srgbClr val="0B2B2E"/>
                </a:solidFill>
                <a:latin typeface="Calibri" pitchFamily="34" charset="0"/>
                <a:ea typeface="Calibri" pitchFamily="34" charset="-122"/>
                <a:cs typeface="Calibri" pitchFamily="34" charset="-120"/>
              </a:rPr>
              <a:t>No Resale Marketplace</a:t>
            </a:r>
            <a:endParaRPr lang="en-US" sz="1550" dirty="0"/>
          </a:p>
        </p:txBody>
      </p:sp>
      <p:sp>
        <p:nvSpPr>
          <p:cNvPr id="18" name="Text 16"/>
          <p:cNvSpPr/>
          <p:nvPr/>
        </p:nvSpPr>
        <p:spPr>
          <a:xfrm>
            <a:off x="914400" y="5074920"/>
            <a:ext cx="4709160" cy="1143000"/>
          </a:xfrm>
          <a:prstGeom prst="rect">
            <a:avLst/>
          </a:prstGeom>
          <a:noFill/>
          <a:ln/>
        </p:spPr>
        <p:txBody>
          <a:bodyPr wrap="square" lIns="0" tIns="0" rIns="0" bIns="0" rtlCol="0" anchor="ctr"/>
          <a:lstStyle/>
          <a:p>
            <a:pPr marL="0" indent="0">
              <a:lnSpc>
                <a:spcPct val="128000"/>
              </a:lnSpc>
              <a:buNone/>
            </a:pPr>
            <a:r>
              <a:rPr lang="en-US" sz="1200" dirty="0">
                <a:solidFill>
                  <a:srgbClr val="5C7A78"/>
                </a:solidFill>
                <a:latin typeface="Calibri" pitchFamily="34" charset="0"/>
                <a:ea typeface="Calibri" pitchFamily="34" charset="-122"/>
                <a:cs typeface="Calibri" pitchFamily="34" charset="-120"/>
              </a:rPr>
              <a:t>Even when stock is genuinely resellable, there's no dedicated platform connecting vendors with willing buyers.</a:t>
            </a:r>
            <a:endParaRPr lang="en-US" sz="1200" dirty="0"/>
          </a:p>
        </p:txBody>
      </p:sp>
      <p:sp>
        <p:nvSpPr>
          <p:cNvPr id="19" name="Shape 17"/>
          <p:cNvSpPr/>
          <p:nvPr/>
        </p:nvSpPr>
        <p:spPr>
          <a:xfrm>
            <a:off x="6217920" y="4206240"/>
            <a:ext cx="5257800" cy="2148840"/>
          </a:xfrm>
          <a:prstGeom prst="roundRect">
            <a:avLst>
              <a:gd name="adj" fmla="val 4255"/>
            </a:avLst>
          </a:prstGeom>
          <a:solidFill>
            <a:srgbClr val="F5F9F8"/>
          </a:solidFill>
          <a:ln w="12700">
            <a:solidFill>
              <a:srgbClr val="E1EAE9"/>
            </a:solidFill>
            <a:prstDash val="solid"/>
          </a:ln>
        </p:spPr>
      </p:sp>
      <p:sp>
        <p:nvSpPr>
          <p:cNvPr id="20" name="Shape 18"/>
          <p:cNvSpPr/>
          <p:nvPr/>
        </p:nvSpPr>
        <p:spPr>
          <a:xfrm>
            <a:off x="6492240" y="4480560"/>
            <a:ext cx="502920" cy="502920"/>
          </a:xfrm>
          <a:prstGeom prst="ellipse">
            <a:avLst/>
          </a:prstGeom>
          <a:solidFill>
            <a:srgbClr val="FBE3DE"/>
          </a:solidFill>
          <a:ln/>
        </p:spPr>
      </p:sp>
      <p:sp>
        <p:nvSpPr>
          <p:cNvPr id="21" name="Text 19"/>
          <p:cNvSpPr/>
          <p:nvPr/>
        </p:nvSpPr>
        <p:spPr>
          <a:xfrm>
            <a:off x="6492240" y="4480560"/>
            <a:ext cx="502920" cy="502920"/>
          </a:xfrm>
          <a:prstGeom prst="rect">
            <a:avLst/>
          </a:prstGeom>
          <a:noFill/>
          <a:ln/>
        </p:spPr>
        <p:txBody>
          <a:bodyPr wrap="square" lIns="0" tIns="0" rIns="0" bIns="0" rtlCol="0" anchor="ctr"/>
          <a:lstStyle/>
          <a:p>
            <a:pPr marL="0" indent="0" algn="ctr">
              <a:buNone/>
            </a:pPr>
            <a:r>
              <a:rPr lang="en-US" sz="1800" b="1" dirty="0">
                <a:solidFill>
                  <a:srgbClr val="C0392B"/>
                </a:solidFill>
                <a:latin typeface="Calibri" pitchFamily="34" charset="0"/>
                <a:ea typeface="Calibri" pitchFamily="34" charset="-122"/>
                <a:cs typeface="Calibri" pitchFamily="34" charset="-120"/>
              </a:rPr>
              <a:t>⚠</a:t>
            </a:r>
            <a:endParaRPr lang="en-US" sz="1800" dirty="0"/>
          </a:p>
        </p:txBody>
      </p:sp>
      <p:sp>
        <p:nvSpPr>
          <p:cNvPr id="22" name="Text 20"/>
          <p:cNvSpPr/>
          <p:nvPr/>
        </p:nvSpPr>
        <p:spPr>
          <a:xfrm>
            <a:off x="7178040" y="4462272"/>
            <a:ext cx="4069080" cy="365760"/>
          </a:xfrm>
          <a:prstGeom prst="rect">
            <a:avLst/>
          </a:prstGeom>
          <a:noFill/>
          <a:ln/>
        </p:spPr>
        <p:txBody>
          <a:bodyPr wrap="square" lIns="0" tIns="0" rIns="0" bIns="0" rtlCol="0" anchor="ctr"/>
          <a:lstStyle/>
          <a:p>
            <a:pPr marL="0" indent="0">
              <a:buNone/>
            </a:pPr>
            <a:r>
              <a:rPr lang="en-US" sz="1550" b="1" dirty="0">
                <a:solidFill>
                  <a:srgbClr val="0B2B2E"/>
                </a:solidFill>
                <a:latin typeface="Calibri" pitchFamily="34" charset="0"/>
                <a:ea typeface="Calibri" pitchFamily="34" charset="-122"/>
                <a:cs typeface="Calibri" pitchFamily="34" charset="-120"/>
              </a:rPr>
              <a:t>Compliance Risk</a:t>
            </a:r>
            <a:endParaRPr lang="en-US" sz="1550" dirty="0"/>
          </a:p>
        </p:txBody>
      </p:sp>
      <p:sp>
        <p:nvSpPr>
          <p:cNvPr id="23" name="Text 21"/>
          <p:cNvSpPr/>
          <p:nvPr/>
        </p:nvSpPr>
        <p:spPr>
          <a:xfrm>
            <a:off x="6492240" y="5074920"/>
            <a:ext cx="4709160" cy="1143000"/>
          </a:xfrm>
          <a:prstGeom prst="rect">
            <a:avLst/>
          </a:prstGeom>
          <a:noFill/>
          <a:ln/>
        </p:spPr>
        <p:txBody>
          <a:bodyPr wrap="square" lIns="0" tIns="0" rIns="0" bIns="0" rtlCol="0" anchor="ctr"/>
          <a:lstStyle/>
          <a:p>
            <a:pPr marL="0" indent="0">
              <a:lnSpc>
                <a:spcPct val="128000"/>
              </a:lnSpc>
              <a:buNone/>
            </a:pPr>
            <a:r>
              <a:rPr lang="en-US" sz="1200" dirty="0">
                <a:solidFill>
                  <a:srgbClr val="5C7A78"/>
                </a:solidFill>
                <a:latin typeface="Calibri" pitchFamily="34" charset="0"/>
                <a:ea typeface="Calibri" pitchFamily="34" charset="-122"/>
                <a:cs typeface="Calibri" pitchFamily="34" charset="-120"/>
              </a:rPr>
              <a:t>Regulated categories (like licensed liquor) can't just resell freely — any channel must respect licensing rules.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B2E"/>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lIns="0" tIns="0" rIns="0" bIns="0" rtlCol="0" anchor="ctr"/>
          <a:lstStyle/>
          <a:p>
            <a:pPr marL="0" indent="0">
              <a:buNone/>
            </a:pPr>
            <a:r>
              <a:rPr lang="en-US" sz="1300" b="1" kern="0" spc="300" dirty="0">
                <a:solidFill>
                  <a:srgbClr val="02C39A"/>
                </a:solidFill>
                <a:latin typeface="Calibri" pitchFamily="34" charset="0"/>
                <a:ea typeface="Calibri" pitchFamily="34" charset="-122"/>
                <a:cs typeface="Calibri" pitchFamily="34" charset="-120"/>
              </a:rPr>
              <a:t>PROPOSED SOLUTION</a:t>
            </a:r>
            <a:endParaRPr lang="en-US" sz="1300" dirty="0"/>
          </a:p>
        </p:txBody>
      </p:sp>
      <p:sp>
        <p:nvSpPr>
          <p:cNvPr id="3" name="Text 1"/>
          <p:cNvSpPr/>
          <p:nvPr/>
        </p:nvSpPr>
        <p:spPr>
          <a:xfrm>
            <a:off x="640080" y="777240"/>
            <a:ext cx="100584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One System: Manage, Verify, Resell</a:t>
            </a:r>
            <a:endParaRPr lang="en-US" sz="3000" dirty="0"/>
          </a:p>
        </p:txBody>
      </p:sp>
      <p:sp>
        <p:nvSpPr>
          <p:cNvPr id="4" name="Shape 2"/>
          <p:cNvSpPr/>
          <p:nvPr/>
        </p:nvSpPr>
        <p:spPr>
          <a:xfrm>
            <a:off x="640080" y="1965960"/>
            <a:ext cx="2606040" cy="3383280"/>
          </a:xfrm>
          <a:prstGeom prst="roundRect">
            <a:avLst>
              <a:gd name="adj" fmla="val 3509"/>
            </a:avLst>
          </a:prstGeom>
          <a:solidFill>
            <a:srgbClr val="0F3A3C"/>
          </a:solidFill>
          <a:ln/>
        </p:spPr>
      </p:sp>
      <p:sp>
        <p:nvSpPr>
          <p:cNvPr id="5" name="Text 3"/>
          <p:cNvSpPr/>
          <p:nvPr/>
        </p:nvSpPr>
        <p:spPr>
          <a:xfrm>
            <a:off x="868680" y="2167128"/>
            <a:ext cx="1371600" cy="502920"/>
          </a:xfrm>
          <a:prstGeom prst="rect">
            <a:avLst/>
          </a:prstGeom>
          <a:noFill/>
          <a:ln/>
        </p:spPr>
        <p:txBody>
          <a:bodyPr wrap="square" lIns="0" tIns="0" rIns="0" bIns="0" rtlCol="0" anchor="ctr"/>
          <a:lstStyle/>
          <a:p>
            <a:pPr marL="0" indent="0">
              <a:buNone/>
            </a:pPr>
            <a:r>
              <a:rPr lang="en-US" sz="2600" b="1" dirty="0">
                <a:solidFill>
                  <a:srgbClr val="02C39A"/>
                </a:solidFill>
                <a:latin typeface="Cambria" pitchFamily="34" charset="0"/>
                <a:ea typeface="Cambria" pitchFamily="34" charset="-122"/>
                <a:cs typeface="Cambria" pitchFamily="34" charset="-120"/>
              </a:rPr>
              <a:t>01</a:t>
            </a:r>
            <a:endParaRPr lang="en-US" sz="2600" dirty="0"/>
          </a:p>
        </p:txBody>
      </p:sp>
      <p:sp>
        <p:nvSpPr>
          <p:cNvPr id="6" name="Text 4"/>
          <p:cNvSpPr/>
          <p:nvPr/>
        </p:nvSpPr>
        <p:spPr>
          <a:xfrm>
            <a:off x="868680" y="2743200"/>
            <a:ext cx="2148840" cy="41148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Manage</a:t>
            </a:r>
            <a:endParaRPr lang="en-US" sz="1700" dirty="0"/>
          </a:p>
        </p:txBody>
      </p:sp>
      <p:sp>
        <p:nvSpPr>
          <p:cNvPr id="7" name="Text 5"/>
          <p:cNvSpPr/>
          <p:nvPr/>
        </p:nvSpPr>
        <p:spPr>
          <a:xfrm>
            <a:off x="868680" y="3200400"/>
            <a:ext cx="2148840" cy="1920240"/>
          </a:xfrm>
          <a:prstGeom prst="rect">
            <a:avLst/>
          </a:prstGeom>
          <a:noFill/>
          <a:ln/>
        </p:spPr>
        <p:txBody>
          <a:bodyPr wrap="square" lIns="0" tIns="0" rIns="0" bIns="0" rtlCol="0" anchor="ctr"/>
          <a:lstStyle/>
          <a:p>
            <a:pPr marL="0" indent="0">
              <a:lnSpc>
                <a:spcPct val="130000"/>
              </a:lnSpc>
              <a:buNone/>
            </a:pPr>
            <a:r>
              <a:rPr lang="en-US" sz="1150" dirty="0">
                <a:solidFill>
                  <a:srgbClr val="CFE3E1"/>
                </a:solidFill>
                <a:latin typeface="Calibri" pitchFamily="34" charset="0"/>
                <a:ea typeface="Calibri" pitchFamily="34" charset="-122"/>
                <a:cs typeface="Calibri" pitchFamily="34" charset="-120"/>
              </a:rPr>
              <a:t>Vendors log and track stock digitally, with automated aging alerts flagging items drifting toward deadstock status.</a:t>
            </a:r>
            <a:endParaRPr lang="en-US" sz="1150" dirty="0"/>
          </a:p>
        </p:txBody>
      </p:sp>
      <p:sp>
        <p:nvSpPr>
          <p:cNvPr id="8" name="Text 6"/>
          <p:cNvSpPr/>
          <p:nvPr/>
        </p:nvSpPr>
        <p:spPr>
          <a:xfrm>
            <a:off x="3227832" y="3429000"/>
            <a:ext cx="292608" cy="457200"/>
          </a:xfrm>
          <a:prstGeom prst="rect">
            <a:avLst/>
          </a:prstGeom>
          <a:noFill/>
          <a:ln/>
        </p:spPr>
        <p:txBody>
          <a:bodyPr wrap="square" lIns="0" tIns="0" rIns="0" bIns="0" rtlCol="0" anchor="ctr"/>
          <a:lstStyle/>
          <a:p>
            <a:pPr marL="0" indent="0" algn="ctr">
              <a:buNone/>
            </a:pPr>
            <a:r>
              <a:rPr lang="en-US" sz="1800" b="1" dirty="0">
                <a:solidFill>
                  <a:srgbClr val="02C39A"/>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3383280" y="1965960"/>
            <a:ext cx="2606040" cy="3383280"/>
          </a:xfrm>
          <a:prstGeom prst="roundRect">
            <a:avLst>
              <a:gd name="adj" fmla="val 3509"/>
            </a:avLst>
          </a:prstGeom>
          <a:solidFill>
            <a:srgbClr val="0F3A3C"/>
          </a:solidFill>
          <a:ln/>
        </p:spPr>
      </p:sp>
      <p:sp>
        <p:nvSpPr>
          <p:cNvPr id="10" name="Text 8"/>
          <p:cNvSpPr/>
          <p:nvPr/>
        </p:nvSpPr>
        <p:spPr>
          <a:xfrm>
            <a:off x="3611880" y="2167128"/>
            <a:ext cx="1371600" cy="502920"/>
          </a:xfrm>
          <a:prstGeom prst="rect">
            <a:avLst/>
          </a:prstGeom>
          <a:noFill/>
          <a:ln/>
        </p:spPr>
        <p:txBody>
          <a:bodyPr wrap="square" lIns="0" tIns="0" rIns="0" bIns="0" rtlCol="0" anchor="ctr"/>
          <a:lstStyle/>
          <a:p>
            <a:pPr marL="0" indent="0">
              <a:buNone/>
            </a:pPr>
            <a:r>
              <a:rPr lang="en-US" sz="2600" b="1" dirty="0">
                <a:solidFill>
                  <a:srgbClr val="02C39A"/>
                </a:solidFill>
                <a:latin typeface="Cambria" pitchFamily="34" charset="0"/>
                <a:ea typeface="Cambria" pitchFamily="34" charset="-122"/>
                <a:cs typeface="Cambria" pitchFamily="34" charset="-120"/>
              </a:rPr>
              <a:t>02</a:t>
            </a:r>
            <a:endParaRPr lang="en-US" sz="2600" dirty="0"/>
          </a:p>
        </p:txBody>
      </p:sp>
      <p:sp>
        <p:nvSpPr>
          <p:cNvPr id="11" name="Text 9"/>
          <p:cNvSpPr/>
          <p:nvPr/>
        </p:nvSpPr>
        <p:spPr>
          <a:xfrm>
            <a:off x="3611880" y="2743200"/>
            <a:ext cx="2148840" cy="41148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Verify</a:t>
            </a:r>
            <a:endParaRPr lang="en-US" sz="1700" dirty="0"/>
          </a:p>
        </p:txBody>
      </p:sp>
      <p:sp>
        <p:nvSpPr>
          <p:cNvPr id="12" name="Text 10"/>
          <p:cNvSpPr/>
          <p:nvPr/>
        </p:nvSpPr>
        <p:spPr>
          <a:xfrm>
            <a:off x="3611880" y="3200400"/>
            <a:ext cx="2148840" cy="1920240"/>
          </a:xfrm>
          <a:prstGeom prst="rect">
            <a:avLst/>
          </a:prstGeom>
          <a:noFill/>
          <a:ln/>
        </p:spPr>
        <p:txBody>
          <a:bodyPr wrap="square" lIns="0" tIns="0" rIns="0" bIns="0" rtlCol="0" anchor="ctr"/>
          <a:lstStyle/>
          <a:p>
            <a:pPr marL="0" indent="0">
              <a:lnSpc>
                <a:spcPct val="130000"/>
              </a:lnSpc>
              <a:buNone/>
            </a:pPr>
            <a:r>
              <a:rPr lang="en-US" sz="1150" dirty="0">
                <a:solidFill>
                  <a:srgbClr val="CFE3E1"/>
                </a:solidFill>
                <a:latin typeface="Calibri" pitchFamily="34" charset="0"/>
                <a:ea typeface="Calibri" pitchFamily="34" charset="-122"/>
                <a:cs typeface="Calibri" pitchFamily="34" charset="-120"/>
              </a:rPr>
              <a:t>A verification layer (photo/batch proof + rule checks) confirms condition, quantity, and authenticity before a listing goes live.</a:t>
            </a:r>
            <a:endParaRPr lang="en-US" sz="1150" dirty="0"/>
          </a:p>
        </p:txBody>
      </p:sp>
      <p:sp>
        <p:nvSpPr>
          <p:cNvPr id="13" name="Text 11"/>
          <p:cNvSpPr/>
          <p:nvPr/>
        </p:nvSpPr>
        <p:spPr>
          <a:xfrm>
            <a:off x="5971032" y="3429000"/>
            <a:ext cx="292608" cy="457200"/>
          </a:xfrm>
          <a:prstGeom prst="rect">
            <a:avLst/>
          </a:prstGeom>
          <a:noFill/>
          <a:ln/>
        </p:spPr>
        <p:txBody>
          <a:bodyPr wrap="square" lIns="0" tIns="0" rIns="0" bIns="0" rtlCol="0" anchor="ctr"/>
          <a:lstStyle/>
          <a:p>
            <a:pPr marL="0" indent="0" algn="ctr">
              <a:buNone/>
            </a:pPr>
            <a:r>
              <a:rPr lang="en-US" sz="1800" b="1" dirty="0">
                <a:solidFill>
                  <a:srgbClr val="02C39A"/>
                </a:solidFill>
                <a:latin typeface="Calibri" pitchFamily="34" charset="0"/>
                <a:ea typeface="Calibri" pitchFamily="34" charset="-122"/>
                <a:cs typeface="Calibri" pitchFamily="34" charset="-120"/>
              </a:rPr>
              <a:t>→</a:t>
            </a:r>
            <a:endParaRPr lang="en-US" sz="1800" dirty="0"/>
          </a:p>
        </p:txBody>
      </p:sp>
      <p:sp>
        <p:nvSpPr>
          <p:cNvPr id="14" name="Shape 12"/>
          <p:cNvSpPr/>
          <p:nvPr/>
        </p:nvSpPr>
        <p:spPr>
          <a:xfrm>
            <a:off x="6126480" y="1965960"/>
            <a:ext cx="2606040" cy="3383280"/>
          </a:xfrm>
          <a:prstGeom prst="roundRect">
            <a:avLst>
              <a:gd name="adj" fmla="val 3509"/>
            </a:avLst>
          </a:prstGeom>
          <a:solidFill>
            <a:srgbClr val="0F3A3C"/>
          </a:solidFill>
          <a:ln/>
        </p:spPr>
      </p:sp>
      <p:sp>
        <p:nvSpPr>
          <p:cNvPr id="15" name="Text 13"/>
          <p:cNvSpPr/>
          <p:nvPr/>
        </p:nvSpPr>
        <p:spPr>
          <a:xfrm>
            <a:off x="6355080" y="2167128"/>
            <a:ext cx="1371600" cy="502920"/>
          </a:xfrm>
          <a:prstGeom prst="rect">
            <a:avLst/>
          </a:prstGeom>
          <a:noFill/>
          <a:ln/>
        </p:spPr>
        <p:txBody>
          <a:bodyPr wrap="square" lIns="0" tIns="0" rIns="0" bIns="0" rtlCol="0" anchor="ctr"/>
          <a:lstStyle/>
          <a:p>
            <a:pPr marL="0" indent="0">
              <a:buNone/>
            </a:pPr>
            <a:r>
              <a:rPr lang="en-US" sz="2600" b="1" dirty="0">
                <a:solidFill>
                  <a:srgbClr val="02C39A"/>
                </a:solidFill>
                <a:latin typeface="Cambria" pitchFamily="34" charset="0"/>
                <a:ea typeface="Cambria" pitchFamily="34" charset="-122"/>
                <a:cs typeface="Cambria" pitchFamily="34" charset="-120"/>
              </a:rPr>
              <a:t>03</a:t>
            </a:r>
            <a:endParaRPr lang="en-US" sz="2600" dirty="0"/>
          </a:p>
        </p:txBody>
      </p:sp>
      <p:sp>
        <p:nvSpPr>
          <p:cNvPr id="16" name="Text 14"/>
          <p:cNvSpPr/>
          <p:nvPr/>
        </p:nvSpPr>
        <p:spPr>
          <a:xfrm>
            <a:off x="6355080" y="2743200"/>
            <a:ext cx="2148840" cy="41148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List</a:t>
            </a:r>
            <a:endParaRPr lang="en-US" sz="1700" dirty="0"/>
          </a:p>
        </p:txBody>
      </p:sp>
      <p:sp>
        <p:nvSpPr>
          <p:cNvPr id="17" name="Text 15"/>
          <p:cNvSpPr/>
          <p:nvPr/>
        </p:nvSpPr>
        <p:spPr>
          <a:xfrm>
            <a:off x="6355080" y="3200400"/>
            <a:ext cx="2148840" cy="1920240"/>
          </a:xfrm>
          <a:prstGeom prst="rect">
            <a:avLst/>
          </a:prstGeom>
          <a:noFill/>
          <a:ln/>
        </p:spPr>
        <p:txBody>
          <a:bodyPr wrap="square" lIns="0" tIns="0" rIns="0" bIns="0" rtlCol="0" anchor="ctr"/>
          <a:lstStyle/>
          <a:p>
            <a:pPr marL="0" indent="0">
              <a:lnSpc>
                <a:spcPct val="130000"/>
              </a:lnSpc>
              <a:buNone/>
            </a:pPr>
            <a:r>
              <a:rPr lang="en-US" sz="1150" dirty="0">
                <a:solidFill>
                  <a:srgbClr val="CFE3E1"/>
                </a:solidFill>
                <a:latin typeface="Calibri" pitchFamily="34" charset="0"/>
                <a:ea typeface="Calibri" pitchFamily="34" charset="-122"/>
                <a:cs typeface="Calibri" pitchFamily="34" charset="-120"/>
              </a:rPr>
              <a:t>Verified deadstock is published to a seller-side marketplace, categorized and priced for discovery by other buyers.</a:t>
            </a:r>
            <a:endParaRPr lang="en-US" sz="1150" dirty="0"/>
          </a:p>
        </p:txBody>
      </p:sp>
      <p:sp>
        <p:nvSpPr>
          <p:cNvPr id="18" name="Text 16"/>
          <p:cNvSpPr/>
          <p:nvPr/>
        </p:nvSpPr>
        <p:spPr>
          <a:xfrm>
            <a:off x="8714232" y="3429000"/>
            <a:ext cx="292608" cy="457200"/>
          </a:xfrm>
          <a:prstGeom prst="rect">
            <a:avLst/>
          </a:prstGeom>
          <a:noFill/>
          <a:ln/>
        </p:spPr>
        <p:txBody>
          <a:bodyPr wrap="square" lIns="0" tIns="0" rIns="0" bIns="0" rtlCol="0" anchor="ctr"/>
          <a:lstStyle/>
          <a:p>
            <a:pPr marL="0" indent="0" algn="ctr">
              <a:buNone/>
            </a:pPr>
            <a:r>
              <a:rPr lang="en-US" sz="1800" b="1" dirty="0">
                <a:solidFill>
                  <a:srgbClr val="02C39A"/>
                </a:solidFill>
                <a:latin typeface="Calibri" pitchFamily="34" charset="0"/>
                <a:ea typeface="Calibri" pitchFamily="34" charset="-122"/>
                <a:cs typeface="Calibri" pitchFamily="34" charset="-120"/>
              </a:rPr>
              <a:t>→</a:t>
            </a:r>
            <a:endParaRPr lang="en-US" sz="1800" dirty="0"/>
          </a:p>
        </p:txBody>
      </p:sp>
      <p:sp>
        <p:nvSpPr>
          <p:cNvPr id="19" name="Shape 17"/>
          <p:cNvSpPr/>
          <p:nvPr/>
        </p:nvSpPr>
        <p:spPr>
          <a:xfrm>
            <a:off x="8869680" y="1965960"/>
            <a:ext cx="2606040" cy="3383280"/>
          </a:xfrm>
          <a:prstGeom prst="roundRect">
            <a:avLst>
              <a:gd name="adj" fmla="val 3509"/>
            </a:avLst>
          </a:prstGeom>
          <a:solidFill>
            <a:srgbClr val="0F3A3C"/>
          </a:solidFill>
          <a:ln/>
        </p:spPr>
      </p:sp>
      <p:sp>
        <p:nvSpPr>
          <p:cNvPr id="20" name="Text 18"/>
          <p:cNvSpPr/>
          <p:nvPr/>
        </p:nvSpPr>
        <p:spPr>
          <a:xfrm>
            <a:off x="9098280" y="2167128"/>
            <a:ext cx="1371600" cy="502920"/>
          </a:xfrm>
          <a:prstGeom prst="rect">
            <a:avLst/>
          </a:prstGeom>
          <a:noFill/>
          <a:ln/>
        </p:spPr>
        <p:txBody>
          <a:bodyPr wrap="square" lIns="0" tIns="0" rIns="0" bIns="0" rtlCol="0" anchor="ctr"/>
          <a:lstStyle/>
          <a:p>
            <a:pPr marL="0" indent="0">
              <a:buNone/>
            </a:pPr>
            <a:r>
              <a:rPr lang="en-US" sz="2600" b="1" dirty="0">
                <a:solidFill>
                  <a:srgbClr val="02C39A"/>
                </a:solidFill>
                <a:latin typeface="Cambria" pitchFamily="34" charset="0"/>
                <a:ea typeface="Cambria" pitchFamily="34" charset="-122"/>
                <a:cs typeface="Cambria" pitchFamily="34" charset="-120"/>
              </a:rPr>
              <a:t>04</a:t>
            </a:r>
            <a:endParaRPr lang="en-US" sz="2600" dirty="0"/>
          </a:p>
        </p:txBody>
      </p:sp>
      <p:sp>
        <p:nvSpPr>
          <p:cNvPr id="21" name="Text 19"/>
          <p:cNvSpPr/>
          <p:nvPr/>
        </p:nvSpPr>
        <p:spPr>
          <a:xfrm>
            <a:off x="9098280" y="2743200"/>
            <a:ext cx="2148840" cy="41148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Resell</a:t>
            </a:r>
            <a:endParaRPr lang="en-US" sz="1700" dirty="0"/>
          </a:p>
        </p:txBody>
      </p:sp>
      <p:sp>
        <p:nvSpPr>
          <p:cNvPr id="22" name="Text 20"/>
          <p:cNvSpPr/>
          <p:nvPr/>
        </p:nvSpPr>
        <p:spPr>
          <a:xfrm>
            <a:off x="9098280" y="3200400"/>
            <a:ext cx="2148840" cy="1920240"/>
          </a:xfrm>
          <a:prstGeom prst="rect">
            <a:avLst/>
          </a:prstGeom>
          <a:noFill/>
          <a:ln/>
        </p:spPr>
        <p:txBody>
          <a:bodyPr wrap="square" lIns="0" tIns="0" rIns="0" bIns="0" rtlCol="0" anchor="ctr"/>
          <a:lstStyle/>
          <a:p>
            <a:pPr marL="0" indent="0">
              <a:lnSpc>
                <a:spcPct val="130000"/>
              </a:lnSpc>
              <a:buNone/>
            </a:pPr>
            <a:r>
              <a:rPr lang="en-US" sz="1150" dirty="0">
                <a:solidFill>
                  <a:srgbClr val="CFE3E1"/>
                </a:solidFill>
                <a:latin typeface="Calibri" pitchFamily="34" charset="0"/>
                <a:ea typeface="Calibri" pitchFamily="34" charset="-122"/>
                <a:cs typeface="Calibri" pitchFamily="34" charset="-120"/>
              </a:rPr>
              <a:t>Buyers browse trusted listings and purchase directly — recovering vendor capital and keeping usable stock in circulation.</a:t>
            </a:r>
            <a:endParaRPr lang="en-US" sz="1150" dirty="0"/>
          </a:p>
        </p:txBody>
      </p:sp>
      <p:sp>
        <p:nvSpPr>
          <p:cNvPr id="23" name="Text 21"/>
          <p:cNvSpPr/>
          <p:nvPr/>
        </p:nvSpPr>
        <p:spPr>
          <a:xfrm>
            <a:off x="640080" y="5623560"/>
            <a:ext cx="10881360" cy="548640"/>
          </a:xfrm>
          <a:prstGeom prst="rect">
            <a:avLst/>
          </a:prstGeom>
          <a:noFill/>
          <a:ln/>
        </p:spPr>
        <p:txBody>
          <a:bodyPr wrap="square" lIns="0" tIns="0" rIns="0" bIns="0" rtlCol="0" anchor="ctr"/>
          <a:lstStyle/>
          <a:p>
            <a:pPr marL="0" indent="0">
              <a:lnSpc>
                <a:spcPct val="120000"/>
              </a:lnSpc>
              <a:buNone/>
            </a:pPr>
            <a:r>
              <a:rPr lang="en-US" sz="1300" i="1" dirty="0">
                <a:solidFill>
                  <a:srgbClr val="9FC1BE"/>
                </a:solidFill>
                <a:latin typeface="Calibri" pitchFamily="34" charset="0"/>
                <a:ea typeface="Calibri" pitchFamily="34" charset="-122"/>
                <a:cs typeface="Calibri" pitchFamily="34" charset="-120"/>
              </a:rPr>
              <a:t>Outcome: vendors recover capital locked in unsold stock, buyers access verified inventory at value, and less usable stock goes to waste.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1422</Words>
  <Application>Microsoft Office PowerPoint</Application>
  <PresentationFormat>Widescreen</PresentationFormat>
  <Paragraphs>66</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Cambria</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Aryan Gupta</cp:lastModifiedBy>
  <cp:revision>2</cp:revision>
  <dcterms:created xsi:type="dcterms:W3CDTF">2026-08-09T16:43:59Z</dcterms:created>
  <dcterms:modified xsi:type="dcterms:W3CDTF">2026-08-09T16:44:42Z</dcterms:modified>
</cp:coreProperties>
</file>